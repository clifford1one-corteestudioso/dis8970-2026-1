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045C6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3474720"/>
            <a:ext cx="3108960" cy="31089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5544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RutAcc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urbana accesible para usuarios de silla de ruedas,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en neurociencia cognitiva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VIU 2026  ·  ANID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requerimientos de las bases — Valorización de la Investigación en la Universidad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de admisibilidad cumplidos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Concurso VIU 2026 — cierre 23 de abril de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60520" cy="1170432"/>
          </a:xfrm>
          <a:prstGeom prst="roundRect">
            <a:avLst>
              <a:gd name="adj" fmla="val 546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65506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1778691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en investigación universitaria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173736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deriva directamente de los resultados de un trabajo de título/tesis en diseño y neurociencia aplicada.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1325880"/>
            <a:ext cx="4160520" cy="1170432"/>
          </a:xfrm>
          <a:prstGeom prst="roundRect">
            <a:avLst>
              <a:gd name="adj" fmla="val 546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10912" y="165506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539" y="1778691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417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 beneficiaria patrocinante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23560" y="173736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acreditada como beneficiaria, con aporte institucional comprometido (mín. 20% del costo total).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606040"/>
            <a:ext cx="4160520" cy="1170432"/>
          </a:xfrm>
          <a:prstGeom prst="roundRect">
            <a:avLst>
              <a:gd name="adj" fmla="val 546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" y="293522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3058851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697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dentro del marco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34440" y="30175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de 12 meses, estructurado en 6 fases con hitos verificables.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46320" y="2606040"/>
            <a:ext cx="4160520" cy="1170432"/>
          </a:xfrm>
          <a:prstGeom prst="roundRect">
            <a:avLst>
              <a:gd name="adj" fmla="val 546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10912" y="293522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539" y="3058851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697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dentro del tope ANID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23560" y="30175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bajo el máximo de $36.000.000 + aporte institucional valorizado.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886200"/>
            <a:ext cx="4160520" cy="1170432"/>
          </a:xfrm>
          <a:prstGeom prst="roundRect">
            <a:avLst>
              <a:gd name="adj" fmla="val 546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1792" y="421538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19" y="4339011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3977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presentación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234440" y="429768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público de máx. 120 segundos con enlace incluido en el formulario.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846320" y="3886200"/>
            <a:ext cx="4160520" cy="1170432"/>
          </a:xfrm>
          <a:prstGeom prst="roundRect">
            <a:avLst>
              <a:gd name="adj" fmla="val 546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010912" y="421538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4539" y="4339011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977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Declaraciones y firmas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623560" y="429768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Director/a del proyecto y representante legal institucional suscriben veracidad y elegibilidad.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oportunidad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108960" cy="1691640"/>
          </a:xfrm>
          <a:prstGeom prst="roundRect">
            <a:avLst>
              <a:gd name="adj" fmla="val 4324"/>
            </a:avLst>
          </a:prstGeom>
          <a:solidFill>
            <a:srgbClr val="0234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16,7%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población chilena presenta alguna discapacidad (SENADIS, 2015)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3108960" cy="1691640"/>
          </a:xfrm>
          <a:prstGeom prst="roundRect">
            <a:avLst>
              <a:gd name="adj" fmla="val 432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1089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180.000+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silla de ruedas estimados en Chile (ENDISC 2015)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77640" y="1188720"/>
            <a:ext cx="502920" cy="50292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8399" y="131947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física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63440" y="14264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Rampas fuera de norma, aceras obstruidas e incumplimiento de la Ley 20.422 y la OGUC.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77640" y="2423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399" y="25539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cognitiva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63440" y="266090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con alta incertidumbre de accesibilidad sobrecarga la memoria de trabajo: estrés, fatiga y evitación del espacio público.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977640" y="36576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399" y="378835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566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tecnológica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663440" y="389534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y Waze no integran accesibilidad: aumentan la carga cognitiva extrínseca del usuario en silla de ruedas.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científico-tecnológica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Neurociencia cognitiva aplicada al diseño de interfaz — Teoría de la Carga Cognitiva (Sweller; van Merriënboer)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AF6F6"/>
          </a:solidFill>
          <a:ln w="9525">
            <a:solidFill>
              <a:srgbClr val="D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154" y="1526682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807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carga extrínseca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51960" y="13807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minimalista: solo capas relevantes de accesibilidad, sin ruido visual.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020824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8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211226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" y="222162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075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informativo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51960" y="20756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 semánticos unificados que agrupan variables de ruta en una sola señal.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71576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AF6F6"/>
          </a:solidFill>
          <a:ln w="9525">
            <a:solidFill>
              <a:srgbClr val="D8E8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" y="28072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54" y="2916570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7706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 y predictibilidad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251960" y="2770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Previsualización de obstáculos antes de encontrarlos: menos alerta sostenida.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410712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8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1792" y="350215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54" y="3611514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4655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Offloading de memoria de trabajo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251960" y="34655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externaliza la planificación de ruta; el usuario se concentra en desplazarse.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4105656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AF6F6"/>
          </a:solidFill>
          <a:ln w="9525">
            <a:solidFill>
              <a:srgbClr val="D8E8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1792" y="41970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54" y="4306458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4160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inmediata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25196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visual y háptica del estado del tramo: reduce incertidumbre ansiógena.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módulos funcionales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traduce un principio neurocognitivo en una función concreta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045C66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1737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953" y="1884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251460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personalizadas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324612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multicriterio: pendiente, superficie y barreras.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48840" y="146304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045C66"/>
          </a:solidFill>
          <a:ln/>
        </p:spPr>
      </p:sp>
      <p:sp>
        <p:nvSpPr>
          <p:cNvPr id="10" name="Shape 7"/>
          <p:cNvSpPr/>
          <p:nvPr/>
        </p:nvSpPr>
        <p:spPr>
          <a:xfrm>
            <a:off x="2679192" y="1737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593" y="18847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21992" y="251460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accesibilidad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58568" y="324612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visual de rampas, ascensores y superficies aptas.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40480" y="146304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045C66"/>
          </a:solidFill>
          <a:ln/>
        </p:spPr>
      </p:sp>
      <p:sp>
        <p:nvSpPr>
          <p:cNvPr id="15" name="Shape 11"/>
          <p:cNvSpPr/>
          <p:nvPr/>
        </p:nvSpPr>
        <p:spPr>
          <a:xfrm>
            <a:off x="4370832" y="1737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233" y="18847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251460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problemas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950208" y="324612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ciudadano de obstáculos en tiempo real.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532120" y="146304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045C66"/>
          </a:solidFill>
          <a:ln/>
        </p:spPr>
      </p:sp>
      <p:sp>
        <p:nvSpPr>
          <p:cNvPr id="20" name="Shape 15"/>
          <p:cNvSpPr/>
          <p:nvPr/>
        </p:nvSpPr>
        <p:spPr>
          <a:xfrm>
            <a:off x="6062472" y="1737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873" y="188476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05272" y="251460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Fiscalizar diseño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41848" y="324612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incumplimientos y derivación a autoridades.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223760" y="1463040"/>
            <a:ext cx="1627632" cy="3017520"/>
          </a:xfrm>
          <a:prstGeom prst="roundRect">
            <a:avLst>
              <a:gd name="adj" fmla="val 4494"/>
            </a:avLst>
          </a:prstGeom>
          <a:solidFill>
            <a:srgbClr val="045C66"/>
          </a:solidFill>
          <a:ln/>
        </p:spPr>
      </p:sp>
      <p:sp>
        <p:nvSpPr>
          <p:cNvPr id="25" name="Shape 19"/>
          <p:cNvSpPr/>
          <p:nvPr/>
        </p:nvSpPr>
        <p:spPr>
          <a:xfrm>
            <a:off x="7754112" y="1737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1513" y="188476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96912" y="251460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tiempo real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33488" y="324612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anticipada de obras y peligros temporales.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</a:t>
            </a:r>
            <a:pPr indent="0" marL="0">
              <a:buNone/>
            </a:pPr>
            <a:r>
              <a:rPr lang="en-US" sz="13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validar con usuarios reales un prototipo funcional de RutAcc, fundado en neurociencia cognitiva, sentando las bases de una empresa de base científico-tecnológica.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313432"/>
            <a:ext cx="566928" cy="566928"/>
          </a:xfrm>
          <a:prstGeom prst="ellipse">
            <a:avLst/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221284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neurocognitivo: métricas y protocolo de evaluación de carga cognitiva.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2313432"/>
            <a:ext cx="566928" cy="566928"/>
          </a:xfrm>
          <a:prstGeom prst="ellipse">
            <a:avLst/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22392" y="221284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 y modelo de datos de accesibilidad (IDE Chile, estándares abiertos).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9544"/>
            <a:ext cx="566928" cy="566928"/>
          </a:xfrm>
          <a:prstGeom prst="ellipse">
            <a:avLst/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9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31089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enrutamiento accesible multicriterio integrado a capas geoespaciales.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3209544"/>
            <a:ext cx="566928" cy="566928"/>
          </a:xfrm>
          <a:prstGeom prst="ellipse">
            <a:avLst/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209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2392" y="31089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 los 5 módulos aplicando chunking, anticipación, offloading y feedback.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05656"/>
            <a:ext cx="566928" cy="566928"/>
          </a:xfrm>
          <a:prstGeom prst="ellipse">
            <a:avLst/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05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40050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20+ usuarios reales: NASA-TLX, eye-tracking y métricas de usabilidad.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4105656"/>
            <a:ext cx="566928" cy="566928"/>
          </a:xfrm>
          <a:prstGeom prst="ellipse">
            <a:avLst/>
          </a:prstGeom>
          <a:solidFill>
            <a:srgbClr val="EAF6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105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22392" y="40050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negocio, estrategia de PI y plan de escalamiento del emprendimiento.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— 12 meses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74520"/>
            <a:ext cx="786384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" y="1728216"/>
            <a:ext cx="292608" cy="29260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234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353312" cy="2331720"/>
          </a:xfrm>
          <a:prstGeom prst="roundRect">
            <a:avLst>
              <a:gd name="adj" fmla="val 405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237744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y arquitectura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297180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273552"/>
            <a:ext cx="11704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literatura, métricas de carga cognitiva, integración IDE Chile.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386584" y="1728216"/>
            <a:ext cx="292608" cy="29260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1234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56232" y="2286000"/>
            <a:ext cx="1353312" cy="2331720"/>
          </a:xfrm>
          <a:prstGeom prst="roundRect">
            <a:avLst>
              <a:gd name="adj" fmla="val 405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29384" y="237744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rutas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29384" y="297180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2–4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47672" y="3273552"/>
            <a:ext cx="11704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multicriterio y pruebas con datos reales de ciudad piloto.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785616" y="1728216"/>
            <a:ext cx="292608" cy="29260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234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55264" y="2286000"/>
            <a:ext cx="1353312" cy="2331720"/>
          </a:xfrm>
          <a:prstGeom prst="roundRect">
            <a:avLst>
              <a:gd name="adj" fmla="val 405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28416" y="237744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UX/UI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28416" y="297180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3–5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6704" y="3273552"/>
            <a:ext cx="11704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según CLT, prototipo de baja fidelidad, focus group de usuarios.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184648" y="1728216"/>
            <a:ext cx="292608" cy="29260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234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54296" y="2286000"/>
            <a:ext cx="1353312" cy="2331720"/>
          </a:xfrm>
          <a:prstGeom prst="roundRect">
            <a:avLst>
              <a:gd name="adj" fmla="val 405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27448" y="237744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app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27448" y="297180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5–9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45736" y="3273552"/>
            <a:ext cx="11704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los 5 módulos, integración y pruebas unitarias.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583680" y="1728216"/>
            <a:ext cx="292608" cy="29260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1234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53328" y="2286000"/>
            <a:ext cx="1353312" cy="2331720"/>
          </a:xfrm>
          <a:prstGeom prst="roundRect">
            <a:avLst>
              <a:gd name="adj" fmla="val 405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237744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26480" y="297180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9–11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44768" y="3273552"/>
            <a:ext cx="11704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terreno con 20+ usuarios: NASA-TLX y eye-tracking.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982712" y="1728216"/>
            <a:ext cx="292608" cy="29260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17536" y="1234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452360" y="2286000"/>
            <a:ext cx="1353312" cy="2331720"/>
          </a:xfrm>
          <a:prstGeom prst="roundRect">
            <a:avLst>
              <a:gd name="adj" fmla="val 405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25512" y="237744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y cierre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525512" y="297180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11–12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43800" y="3273552"/>
            <a:ext cx="11704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estrategia PI, presentaciones a municipios y SENADIS.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comprometidos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79192" cy="1737360"/>
          </a:xfrm>
          <a:prstGeom prst="roundRect">
            <a:avLst>
              <a:gd name="adj" fmla="val 368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35331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1476939"/>
            <a:ext cx="228234" cy="228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13898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3852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validado de medición de carga cognitiva y evidencia cuantitativa de su reducción vs. apps genéricas.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36976" y="1188720"/>
            <a:ext cx="2679192" cy="1737360"/>
          </a:xfrm>
          <a:prstGeom prst="roundRect">
            <a:avLst>
              <a:gd name="adj" fmla="val 368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01568" y="135331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195" y="1476939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05072" y="13898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19856" y="193852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iOS/Android, algoritmo documentado, base de datos georreferenciada y API abierta.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16752" y="1188720"/>
            <a:ext cx="2679192" cy="1737360"/>
          </a:xfrm>
          <a:prstGeom prst="roundRect">
            <a:avLst>
              <a:gd name="adj" fmla="val 368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81344" y="135331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971" y="1476939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84848" y="13898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intelectual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99632" y="193852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marca en INAPI, evaluación de patentabilidad y licencia abierta para datos colaborativos.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063240"/>
            <a:ext cx="4069080" cy="1737360"/>
          </a:xfrm>
          <a:prstGeom prst="roundRect">
            <a:avLst>
              <a:gd name="adj" fmla="val 368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" y="322783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19" y="3351459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25296" y="32644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y negocio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0080" y="381304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de la empresa, Business Model Canvas, 2+ cartas de interés y 1 programa de aceleración.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45152" y="3063240"/>
            <a:ext cx="4069080" cy="1737360"/>
          </a:xfrm>
          <a:prstGeom prst="roundRect">
            <a:avLst>
              <a:gd name="adj" fmla="val 3684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09744" y="322783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371" y="3351459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13248" y="32644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Difusión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828032" y="381304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en congreso, artículo científico en proceso y difusión en medios especializados.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Presupuesto, equipo y respaldo institucional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02343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5023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referencial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0574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$36.000.000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de financiamiento ANID</a:t>
            </a:r>
            <a:endParaRPr lang="en-US" sz="2800" dirty="0"/>
          </a:p>
          <a:p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+ 20% aporte institucional</a:t>
            </a:r>
            <a:endParaRPr lang="en-US" sz="2800" dirty="0"/>
          </a:p>
          <a:p>
            <a:pPr indent="0" marL="0">
              <a:buNone/>
            </a:pPr>
            <a:r>
              <a:rPr lang="en-US" sz="1050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laboratorios, mentor de negocios e infraestructura de evaluación cognitiva (valorizado)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Ítems: honorarios, eye-tracker, licencias, cloud y APIs, validación en terreno, difusión y PI.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3977640" cy="1115568"/>
          </a:xfrm>
          <a:prstGeom prst="roundRect">
            <a:avLst>
              <a:gd name="adj" fmla="val 5738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73752" y="145389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379" y="1577523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multidisciplinario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0" y="1554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UX/neurociencia, desarrollo de software y datos/GIS — 80 h/mes cada uno.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09160" y="2377440"/>
            <a:ext cx="3977640" cy="1115568"/>
          </a:xfrm>
          <a:prstGeom prst="roundRect">
            <a:avLst>
              <a:gd name="adj" fmla="val 5738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73752" y="268833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379" y="281196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académico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0" y="2788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científico en neurociencia, tutor académico y mentor de negocios TI.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611880"/>
            <a:ext cx="3977640" cy="1115568"/>
          </a:xfrm>
          <a:prstGeom prst="roundRect">
            <a:avLst>
              <a:gd name="adj" fmla="val 5738"/>
            </a:avLst>
          </a:prstGeom>
          <a:solidFill>
            <a:srgbClr val="EAF6F6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73752" y="392277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379" y="4046403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institucional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0" y="40233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de compromiso de organizaciones del ecosistema (municipios, ONG, centros de neurorrehabilitación).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RutAcc cumple las bases del VIU 2026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0817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 resultados de investigación universitaria (trabajo de título/tesis)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8528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19019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científico-tecnológica diferenciadora: neurociencia cognitiva aplicada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3000" y="243230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12 meses con validación empírica (20+ usuarios, NASA-TLX, eye-tracking)</a:t>
            </a:r>
            <a:endParaRPr lang="en-US" sz="14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9232"/>
            <a:ext cx="310896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43000" y="29626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dentro del tope ANID con 20% de aporte institucional comprometido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29584"/>
            <a:ext cx="310896" cy="3108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43000" y="34930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PI, modelo de negocio y plan de escalamiento definidos</a:t>
            </a:r>
            <a:endParaRPr lang="en-US" sz="14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59936"/>
            <a:ext cx="310896" cy="31089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143000" y="4023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 medible alineado con la Ley 20.422 y el Plan Nacional de Accesibilidad</a:t>
            </a:r>
            <a:endParaRPr lang="en-US" sz="1450" dirty="0"/>
          </a:p>
        </p:txBody>
      </p:sp>
      <p:sp>
        <p:nvSpPr>
          <p:cNvPr id="15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VIU 2026 — ANID  ·  Cierre de convocatoria: 23 de abril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RutAcc — Concurso VIU 2026</dc:title>
  <dc:subject>PptxGenJS Presentation</dc:subject>
  <dc:creator>PptxGenJS</dc:creator>
  <cp:lastModifiedBy>PptxGenJS</cp:lastModifiedBy>
  <cp:revision>1</cp:revision>
  <dcterms:created xsi:type="dcterms:W3CDTF">2026-06-09T20:33:27Z</dcterms:created>
  <dcterms:modified xsi:type="dcterms:W3CDTF">2026-06-09T20:33:27Z</dcterms:modified>
</cp:coreProperties>
</file>