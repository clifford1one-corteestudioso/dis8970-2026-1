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0"/>
            <a:ext cx="3017520" cy="5143500"/>
          </a:xfrm>
          <a:prstGeom prst="rect">
            <a:avLst/>
          </a:prstGeom>
          <a:solidFill>
            <a:srgbClr val="4B005F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-1005840"/>
            <a:ext cx="2834640" cy="2834640"/>
          </a:xfrm>
          <a:prstGeom prst="ellipse">
            <a:avLst/>
          </a:prstGeom>
          <a:solidFill>
            <a:srgbClr val="F5D7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355080" y="3931920"/>
            <a:ext cx="2011680" cy="2011680"/>
          </a:xfrm>
          <a:prstGeom prst="ellipse">
            <a:avLst/>
          </a:prstGeom>
          <a:solidFill>
            <a:srgbClr val="EBFFAA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269480" y="2148840"/>
            <a:ext cx="868680" cy="868680"/>
          </a:xfrm>
          <a:prstGeom prst="ellipse">
            <a:avLst/>
          </a:prstGeom>
          <a:solidFill>
            <a:srgbClr val="5F73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4024" y="2383384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325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B0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RutAcc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94360" y="22860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urbana accesible fundada 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neurociencia cognitiva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35204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CONCURSO VIU 2026 · ANID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Contenidos exigidos por las bases — puntos i a ix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77240" cy="566928"/>
          </a:xfrm>
          <a:prstGeom prst="roundRect">
            <a:avLst>
              <a:gd name="adj" fmla="val 14516"/>
            </a:avLst>
          </a:prstGeom>
          <a:solidFill>
            <a:srgbClr val="4B00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3474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ejecutivo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212080" cy="3246120"/>
          </a:xfrm>
          <a:prstGeom prst="roundRect">
            <a:avLst>
              <a:gd name="adj" fmla="val 2254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4592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RutAcc es una aplicación móvil de navegación urbana para personas usuarias de silla de ruedas. 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núcleo diferenciador: aplicar principios de neurociencia cognitiva al diseño de interfaz para reducir la carga cognitiva de desplazarse por una ciudad con infraestructura deficiente.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 de los resultados de un trabajo de título/tesis y propone un enrutamiento inteligente que integra datos geoespaciales oficiales con reportes ciudadanos en tiempo real.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897880" y="1417320"/>
            <a:ext cx="2788920" cy="1024128"/>
          </a:xfrm>
          <a:prstGeom prst="roundRect">
            <a:avLst>
              <a:gd name="adj" fmla="val 7143"/>
            </a:avLst>
          </a:prstGeom>
          <a:solidFill>
            <a:srgbClr val="F6FDDB"/>
          </a:solidFill>
          <a:ln/>
        </p:spPr>
      </p:sp>
      <p:sp>
        <p:nvSpPr>
          <p:cNvPr id="8" name="Text 6"/>
          <p:cNvSpPr/>
          <p:nvPr/>
        </p:nvSpPr>
        <p:spPr>
          <a:xfrm>
            <a:off x="608076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aplicada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80760" y="183794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diseñada según la Teoría de la Carga Cognitiva.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97880" y="2560320"/>
            <a:ext cx="2788920" cy="1024128"/>
          </a:xfrm>
          <a:prstGeom prst="roundRect">
            <a:avLst>
              <a:gd name="adj" fmla="val 7143"/>
            </a:avLst>
          </a:prstGeom>
          <a:solidFill>
            <a:srgbClr val="FAEDFE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0" y="2651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ciudadana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80760" y="298094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a ciudades de Chile y Latinoamérica.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97880" y="3703320"/>
            <a:ext cx="2788920" cy="1024128"/>
          </a:xfrm>
          <a:prstGeom prst="roundRect">
            <a:avLst>
              <a:gd name="adj" fmla="val 7143"/>
            </a:avLst>
          </a:prstGeom>
          <a:solidFill>
            <a:srgbClr val="F6FDDB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 · prototipo validado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80760" y="412394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usuarios reales y métricas neurocognitivas.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77240" cy="566928"/>
          </a:xfrm>
          <a:prstGeom prst="roundRect">
            <a:avLst>
              <a:gd name="adj" fmla="val 14516"/>
            </a:avLst>
          </a:prstGeom>
          <a:solidFill>
            <a:srgbClr val="4B00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3474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Problema, necesidad y oportunidad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17320" y="960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en impacto, magnitud y vigencia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0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16,7%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población chilena con discapacidad (SENADIS) y 180.000+ usuarios de silla de ruedas (ENDISC 2015).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55848" y="14630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38728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38728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0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Doble barrera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38728" y="2880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(rampas y aceras fuera de norma) y cognitiva: sobrecarga, estrés, fatiga y evitación del espacio público.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54496" y="14630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37376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37376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0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Brecha abierta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37376" y="2880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app de navegación en Chile integra accesibilidad, reportes ciudadanos y diseño neurocognitivo.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77240" cy="566928"/>
          </a:xfrm>
          <a:prstGeom prst="roundRect">
            <a:avLst>
              <a:gd name="adj" fmla="val 14516"/>
            </a:avLst>
          </a:prstGeom>
          <a:solidFill>
            <a:srgbClr val="4B00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3474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 y mérito científico-tecnológico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17320" y="960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Neurociencia cognitiva aplicada al diseño de interfaz (CLT — Sweller; van Merriënboer)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074920" cy="576072"/>
          </a:xfrm>
          <a:prstGeom prst="roundRect">
            <a:avLst>
              <a:gd name="adj" fmla="val 9524"/>
            </a:avLst>
          </a:prstGeom>
          <a:solidFill>
            <a:srgbClr val="F7F6F4"/>
          </a:solidFill>
          <a:ln w="9525">
            <a:solidFill>
              <a:srgbClr val="E4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1691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extrínseca 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1508760"/>
            <a:ext cx="3063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minimalista: solo capas relevantes de accesibilidad.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30552"/>
            <a:ext cx="507492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4E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76272"/>
            <a:ext cx="1691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2176272"/>
            <a:ext cx="3063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Íconos semánticos que agrupan variables de ruta en una señal.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98064"/>
            <a:ext cx="5074920" cy="576072"/>
          </a:xfrm>
          <a:prstGeom prst="roundRect">
            <a:avLst>
              <a:gd name="adj" fmla="val 9524"/>
            </a:avLst>
          </a:prstGeom>
          <a:solidFill>
            <a:srgbClr val="F7F6F4"/>
          </a:solidFill>
          <a:ln w="9525">
            <a:solidFill>
              <a:srgbClr val="E4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43784"/>
            <a:ext cx="1691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2843784"/>
            <a:ext cx="3063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Previsualización de obstáculos: menos alerta sostenida.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465576"/>
            <a:ext cx="507492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4E0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11296"/>
            <a:ext cx="1691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3511296"/>
            <a:ext cx="3063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externaliza la planificación; el usuario solo se desplaza.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133088"/>
            <a:ext cx="5074920" cy="576072"/>
          </a:xfrm>
          <a:prstGeom prst="roundRect">
            <a:avLst>
              <a:gd name="adj" fmla="val 9524"/>
            </a:avLst>
          </a:prstGeom>
          <a:solidFill>
            <a:srgbClr val="F7F6F4"/>
          </a:solidFill>
          <a:ln w="9525">
            <a:solidFill>
              <a:srgbClr val="E4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178808"/>
            <a:ext cx="1691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inmediato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77440" y="4178808"/>
            <a:ext cx="3063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visual y háptica del estado del tramo.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60720" y="1463040"/>
            <a:ext cx="2926080" cy="3246120"/>
          </a:xfrm>
          <a:prstGeom prst="roundRect">
            <a:avLst>
              <a:gd name="adj" fmla="val 2500"/>
            </a:avLst>
          </a:prstGeom>
          <a:solidFill>
            <a:srgbClr val="4B005F"/>
          </a:solidFill>
          <a:ln/>
        </p:spPr>
      </p:sp>
      <p:sp>
        <p:nvSpPr>
          <p:cNvPr id="22" name="Shape 20"/>
          <p:cNvSpPr/>
          <p:nvPr/>
        </p:nvSpPr>
        <p:spPr>
          <a:xfrm>
            <a:off x="5989320" y="1691640"/>
            <a:ext cx="502920" cy="502920"/>
          </a:xfrm>
          <a:prstGeom prst="ellipse">
            <a:avLst/>
          </a:prstGeom>
          <a:solidFill>
            <a:srgbClr val="5F7300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5108" y="1827428"/>
            <a:ext cx="231343" cy="231343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629400" y="17556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en investigación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89320" y="237744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trabajo de título/tesis: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medición de carga cognitiva (NASA-TLX, eye-tracking), modelo de datos de accesibilidad según OGUC / Ley 20.422 / NCh 3259, y algoritmo de ruteo multicriterio validado.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77240" cy="566928"/>
          </a:xfrm>
          <a:prstGeom prst="roundRect">
            <a:avLst>
              <a:gd name="adj" fmla="val 14516"/>
            </a:avLst>
          </a:prstGeom>
          <a:solidFill>
            <a:srgbClr val="4B00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3474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Tamaño de mercado, clientes y usuarios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834640" cy="3246120"/>
          </a:xfrm>
          <a:prstGeom prst="roundRect">
            <a:avLst>
              <a:gd name="adj" fmla="val 2581"/>
            </a:avLst>
          </a:prstGeom>
          <a:solidFill>
            <a:srgbClr val="FAEDFE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916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B0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180.000+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directos de silla de ruedas estimados en Chile (ENDISC 2015)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34747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345 municipios como mercado B2G potencial a nivel nacional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14173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85032" y="1581912"/>
            <a:ext cx="438912" cy="438912"/>
          </a:xfrm>
          <a:prstGeom prst="ellipse">
            <a:avLst/>
          </a:prstGeom>
          <a:solidFill>
            <a:srgbClr val="5F730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3538" y="1700418"/>
            <a:ext cx="201900" cy="2019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233672" y="1600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directos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703320" y="2103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en silla de ruedas; modelo freemium ciudadano.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17920" y="14173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82512" y="1581912"/>
            <a:ext cx="438912" cy="438912"/>
          </a:xfrm>
          <a:prstGeom prst="ellipse">
            <a:avLst/>
          </a:prstGeom>
          <a:solidFill>
            <a:srgbClr val="5F730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018" y="1700418"/>
            <a:ext cx="201900" cy="2019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31152" y="1600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400800" y="2103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Municipios, SENADIS y M. de Transportes: datos y fiscalización.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520440" y="31089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85032" y="3273552"/>
            <a:ext cx="438912" cy="438912"/>
          </a:xfrm>
          <a:prstGeom prst="ellipse">
            <a:avLst/>
          </a:prstGeom>
          <a:solidFill>
            <a:srgbClr val="5F730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538" y="3392058"/>
            <a:ext cx="201900" cy="2019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233672" y="3291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3703320" y="3794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adaptado, aseguradoras y empleadores inclusivos.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217920" y="31089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382512" y="3273552"/>
            <a:ext cx="438912" cy="438912"/>
          </a:xfrm>
          <a:prstGeom prst="ellipse">
            <a:avLst/>
          </a:prstGeom>
          <a:solidFill>
            <a:srgbClr val="5F730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018" y="3392058"/>
            <a:ext cx="201900" cy="2019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31152" y="3291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y rehabilitación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6400800" y="3794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de neurorrehabilitación y terapia ocupacional.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77240" cy="566928"/>
          </a:xfrm>
          <a:prstGeom prst="roundRect">
            <a:avLst>
              <a:gd name="adj" fmla="val 14516"/>
            </a:avLst>
          </a:prstGeom>
          <a:solidFill>
            <a:srgbClr val="4B00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3474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para el segmento de mercado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627632"/>
            <a:ext cx="438912" cy="438912"/>
          </a:xfrm>
          <a:prstGeom prst="ellipse">
            <a:avLst/>
          </a:prstGeom>
          <a:solidFill>
            <a:srgbClr val="4B005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298" y="1746138"/>
            <a:ext cx="201900" cy="20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645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multicriterio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2148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Pendiente, superficie y barreras: ninguna app genérica lo pondera.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55848" y="14630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1627632"/>
            <a:ext cx="438912" cy="438912"/>
          </a:xfrm>
          <a:prstGeom prst="ellipse">
            <a:avLst/>
          </a:prstGeom>
          <a:solidFill>
            <a:srgbClr val="4B005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946" y="1746138"/>
            <a:ext cx="201900" cy="201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1645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accesibilidad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38728" y="2148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Iconografía neurocognitiva de alta distinción y baja ambigüedad.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54496" y="14630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19088" y="1627632"/>
            <a:ext cx="438912" cy="438912"/>
          </a:xfrm>
          <a:prstGeom prst="ellipse">
            <a:avLst/>
          </a:prstGeom>
          <a:solidFill>
            <a:srgbClr val="4B005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594" y="1746138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67728" y="1645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ciudadano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37376" y="2148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mental del entorno siempre actualizado.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15468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21792" y="3319272"/>
            <a:ext cx="438912" cy="438912"/>
          </a:xfrm>
          <a:prstGeom prst="ellipse">
            <a:avLst/>
          </a:prstGeom>
          <a:solidFill>
            <a:srgbClr val="4B005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98" y="3437778"/>
            <a:ext cx="201900" cy="201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70432" y="3337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Fiscalización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incumplimientos normativos y derivación a autoridades.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355848" y="315468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520440" y="3319272"/>
            <a:ext cx="438912" cy="438912"/>
          </a:xfrm>
          <a:prstGeom prst="ellipse">
            <a:avLst/>
          </a:prstGeom>
          <a:solidFill>
            <a:srgbClr val="4B005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946" y="3437778"/>
            <a:ext cx="201900" cy="2019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69080" y="3337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en tiempo real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3538728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 obras y peligros antes de generar sobrecarga reactiva.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254496" y="315468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6FDDB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419088" y="3319272"/>
            <a:ext cx="438912" cy="438912"/>
          </a:xfrm>
          <a:prstGeom prst="ellipse">
            <a:avLst/>
          </a:prstGeom>
          <a:solidFill>
            <a:srgbClr val="5F7300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594" y="3437778"/>
            <a:ext cx="201900" cy="2019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67728" y="3337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carga cognitiva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6437376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transversal validado con NASA-TLX y eye-tracking.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77240" cy="566928"/>
          </a:xfrm>
          <a:prstGeom prst="roundRect">
            <a:avLst>
              <a:gd name="adj" fmla="val 14516"/>
            </a:avLst>
          </a:prstGeom>
          <a:solidFill>
            <a:srgbClr val="4B00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3474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Impactos esperados del emprendimiento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728216"/>
            <a:ext cx="475488" cy="475488"/>
          </a:xfrm>
          <a:prstGeom prst="ellipse">
            <a:avLst/>
          </a:prstGeom>
          <a:solidFill>
            <a:srgbClr val="4B005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750" y="1856598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4630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54680" y="1536192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de base científico-tecnológica con ingresos B2G, B2B y freemium; datos de accesibilidad como activo para la industria de movilidad.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578608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AEDFE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" y="2843784"/>
            <a:ext cx="475488" cy="475488"/>
          </a:xfrm>
          <a:prstGeom prst="ellipse">
            <a:avLst/>
          </a:prstGeom>
          <a:solidFill>
            <a:srgbClr val="5F73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50" y="2972166"/>
            <a:ext cx="218724" cy="2187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57860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154680" y="265176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 de desplazamiento, inclusión laboral y educativa para 180.000+ personas; menos estrés y fatiga cognitiva en el espacio público.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694176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6FDDB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8368" y="3959352"/>
            <a:ext cx="475488" cy="475488"/>
          </a:xfrm>
          <a:prstGeom prst="ellipse">
            <a:avLst/>
          </a:prstGeom>
          <a:solidFill>
            <a:srgbClr val="4B005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50" y="4087734"/>
            <a:ext cx="218724" cy="2187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69417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Medioambiental / urbano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154680" y="3767328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abiertos que orientan inversión pública en infraestructura accesible y caminabilidad, alineados con el Plan Nacional de Accesibilidad 2021-2030.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77240" cy="566928"/>
          </a:xfrm>
          <a:prstGeom prst="roundRect">
            <a:avLst>
              <a:gd name="adj" fmla="val 14516"/>
            </a:avLst>
          </a:prstGeom>
          <a:solidFill>
            <a:srgbClr val="4B00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3474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según niveles de madurez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17320" y="960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desarrollo y plan de validación (Anexo 2)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700784"/>
            <a:ext cx="420624" cy="420624"/>
          </a:xfrm>
          <a:prstGeom prst="ellipse">
            <a:avLst/>
          </a:prstGeom>
          <a:solidFill>
            <a:srgbClr val="4B005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60" y="1814352"/>
            <a:ext cx="193487" cy="1934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3856" y="1709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Tecnología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194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 iOS/Android, algoritmo de ruteo documentado y API abierta.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55848" y="155448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0440" y="1700784"/>
            <a:ext cx="420624" cy="420624"/>
          </a:xfrm>
          <a:prstGeom prst="ellipse">
            <a:avLst/>
          </a:prstGeom>
          <a:solidFill>
            <a:srgbClr val="4B005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008" y="1814352"/>
            <a:ext cx="193487" cy="1934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32504" y="1709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Propiedad intelectual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538728" y="2194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en INAPI, evaluación de patentabilidad y licencia abierta para datos colaborativos.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54496" y="155448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19088" y="1700784"/>
            <a:ext cx="420624" cy="420624"/>
          </a:xfrm>
          <a:prstGeom prst="ellipse">
            <a:avLst/>
          </a:prstGeom>
          <a:solidFill>
            <a:srgbClr val="4B005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656" y="1814352"/>
            <a:ext cx="193487" cy="1934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31152" y="1709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Modelo de negocios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37376" y="2194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 validado con clientes B2G/B2B y 2+ cartas de interés.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32004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1792" y="3346704"/>
            <a:ext cx="420624" cy="420624"/>
          </a:xfrm>
          <a:prstGeom prst="ellipse">
            <a:avLst/>
          </a:prstGeom>
          <a:solidFill>
            <a:srgbClr val="4B005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60" y="3460272"/>
            <a:ext cx="193487" cy="1934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33856" y="33558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Financiamiento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Postulación a aceleradoras y fondos de inversión de impacto post-VIU.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355848" y="32004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520440" y="3346704"/>
            <a:ext cx="420624" cy="420624"/>
          </a:xfrm>
          <a:prstGeom prst="ellipse">
            <a:avLst/>
          </a:prstGeom>
          <a:solidFill>
            <a:srgbClr val="4B005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008" y="3460272"/>
            <a:ext cx="193487" cy="19348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032504" y="33558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Equipo y capacidades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3538728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multidisciplinario + asesoría científica, académica y de negocios.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254496" y="32004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419088" y="3346704"/>
            <a:ext cx="420624" cy="420624"/>
          </a:xfrm>
          <a:prstGeom prst="ellipse">
            <a:avLst/>
          </a:prstGeom>
          <a:solidFill>
            <a:srgbClr val="4B005F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2656" y="3460272"/>
            <a:ext cx="193487" cy="19348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31152" y="33558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Valor frente a clientes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6437376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terreno con 20+ usuarios reales y presentaciones a municipios y SENADIS.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77240" cy="566928"/>
          </a:xfrm>
          <a:prstGeom prst="roundRect">
            <a:avLst>
              <a:gd name="adj" fmla="val 14516"/>
            </a:avLst>
          </a:prstGeom>
          <a:solidFill>
            <a:srgbClr val="4B00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3474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trabajo, presupuesto y financiamiento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17320" y="960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capacidades y recursos de la institución beneficiaria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938528"/>
            <a:ext cx="7589520" cy="0"/>
          </a:xfrm>
          <a:prstGeom prst="line">
            <a:avLst/>
          </a:prstGeom>
          <a:noFill/>
          <a:ln w="25400">
            <a:solidFill>
              <a:srgbClr val="E4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19656"/>
            <a:ext cx="237744" cy="237744"/>
          </a:xfrm>
          <a:prstGeom prst="ellipse">
            <a:avLst/>
          </a:prstGeom>
          <a:solidFill>
            <a:srgbClr val="5F73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M1-2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" y="214884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y arquitectura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76272" y="1819656"/>
            <a:ext cx="237744" cy="237744"/>
          </a:xfrm>
          <a:prstGeom prst="ellipse">
            <a:avLst/>
          </a:prstGeom>
          <a:solidFill>
            <a:srgbClr val="5F7300"/>
          </a:solidFill>
          <a:ln/>
        </p:spPr>
      </p:sp>
      <p:sp>
        <p:nvSpPr>
          <p:cNvPr id="11" name="Text 9"/>
          <p:cNvSpPr/>
          <p:nvPr/>
        </p:nvSpPr>
        <p:spPr>
          <a:xfrm>
            <a:off x="1609344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· M2-4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81912" y="214884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rutas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94176" y="1819656"/>
            <a:ext cx="237744" cy="237744"/>
          </a:xfrm>
          <a:prstGeom prst="ellipse">
            <a:avLst/>
          </a:prstGeom>
          <a:solidFill>
            <a:srgbClr val="5F7300"/>
          </a:solidFill>
          <a:ln/>
        </p:spPr>
      </p:sp>
      <p:sp>
        <p:nvSpPr>
          <p:cNvPr id="14" name="Text 12"/>
          <p:cNvSpPr/>
          <p:nvPr/>
        </p:nvSpPr>
        <p:spPr>
          <a:xfrm>
            <a:off x="3127248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· M3-5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99816" y="214884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UX/UI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12080" y="1819656"/>
            <a:ext cx="237744" cy="237744"/>
          </a:xfrm>
          <a:prstGeom prst="ellipse">
            <a:avLst/>
          </a:prstGeom>
          <a:solidFill>
            <a:srgbClr val="5F7300"/>
          </a:solidFill>
          <a:ln/>
        </p:spPr>
      </p:sp>
      <p:sp>
        <p:nvSpPr>
          <p:cNvPr id="17" name="Text 15"/>
          <p:cNvSpPr/>
          <p:nvPr/>
        </p:nvSpPr>
        <p:spPr>
          <a:xfrm>
            <a:off x="4645152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· M5-9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17720" y="214884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app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9984" y="1819656"/>
            <a:ext cx="237744" cy="237744"/>
          </a:xfrm>
          <a:prstGeom prst="ellipse">
            <a:avLst/>
          </a:prstGeom>
          <a:solidFill>
            <a:srgbClr val="5F7300"/>
          </a:solidFill>
          <a:ln/>
        </p:spPr>
      </p:sp>
      <p:sp>
        <p:nvSpPr>
          <p:cNvPr id="20" name="Text 18"/>
          <p:cNvSpPr/>
          <p:nvPr/>
        </p:nvSpPr>
        <p:spPr>
          <a:xfrm>
            <a:off x="6163056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· M9-11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35624" y="214884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usuarios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47888" y="1819656"/>
            <a:ext cx="237744" cy="237744"/>
          </a:xfrm>
          <a:prstGeom prst="ellipse">
            <a:avLst/>
          </a:prstGeom>
          <a:solidFill>
            <a:srgbClr val="5F7300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· M11-12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653528" y="214884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y cierre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4B005F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127248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$36.000.000  </a:t>
            </a:r>
            <a:pPr indent="0" marL="0">
              <a:buNone/>
            </a:pPr>
            <a:r>
              <a:rPr lang="en-US" sz="1300" dirty="0">
                <a:solidFill>
                  <a:srgbClr val="F5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ANID</a:t>
            </a:r>
            <a:endParaRPr lang="en-US" sz="2400" dirty="0"/>
          </a:p>
          <a:p>
            <a:pPr indent="0" marL="0">
              <a:buNone/>
            </a:pPr>
            <a:r>
              <a:rPr lang="en-US" sz="1050" dirty="0">
                <a:solidFill>
                  <a:srgbClr val="E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Honorarios, eye-tracker, licencias, cloud/APIs, validación en terreno, difusión y PI.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4663440" y="292608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6FDDB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19472" y="3127248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+ 20% aporte institucional</a:t>
            </a:r>
            <a:endParaRPr lang="en-US" sz="1700" dirty="0"/>
          </a:p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Laboratorios e infraestructura de evaluación cognitiva, horas de mentor de negocios y vinculación institucional (valorizado, incremental y/o no incremental).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77240" cy="566928"/>
          </a:xfrm>
          <a:prstGeom prst="roundRect">
            <a:avLst>
              <a:gd name="adj" fmla="val 14516"/>
            </a:avLst>
          </a:prstGeom>
          <a:solidFill>
            <a:srgbClr val="4B00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3474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Soporte de la institución beneficiaria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17320" y="960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técnicos y financieros que respaldan el proyecto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069080" cy="1463040"/>
          </a:xfrm>
          <a:prstGeom prst="roundRect">
            <a:avLst>
              <a:gd name="adj" fmla="val 5000"/>
            </a:avLst>
          </a:prstGeom>
          <a:solidFill>
            <a:srgbClr val="FAEDFE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37360"/>
            <a:ext cx="475488" cy="475488"/>
          </a:xfrm>
          <a:prstGeom prst="ellipse">
            <a:avLst/>
          </a:prstGeom>
          <a:solidFill>
            <a:srgbClr val="4B005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62" y="1865742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7556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/ OTL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80160" y="21945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de transferencia y licenciamiento: gestión de PI, contratos y vinculación con ANID.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554480"/>
            <a:ext cx="4069080" cy="1463040"/>
          </a:xfrm>
          <a:prstGeom prst="roundRect">
            <a:avLst>
              <a:gd name="adj" fmla="val 5000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737360"/>
            <a:ext cx="475488" cy="475488"/>
          </a:xfrm>
          <a:prstGeom prst="ellipse">
            <a:avLst/>
          </a:prstGeom>
          <a:solidFill>
            <a:srgbClr val="4B005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422" y="1865742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7556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financiero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532120" y="21945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administración de proyectos: rendiciones, garantías y control presupuestario ANID.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154680"/>
            <a:ext cx="4069080" cy="1463040"/>
          </a:xfrm>
          <a:prstGeom prst="roundRect">
            <a:avLst>
              <a:gd name="adj" fmla="val 5000"/>
            </a:avLst>
          </a:prstGeom>
          <a:solidFill>
            <a:srgbClr val="F7F6F4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337560"/>
            <a:ext cx="475488" cy="475488"/>
          </a:xfrm>
          <a:prstGeom prst="ellipse">
            <a:avLst/>
          </a:prstGeom>
          <a:solidFill>
            <a:srgbClr val="4B005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62" y="3465942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3558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técnico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280160" y="3794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Laboratorios de evaluación cognitiva (eye-tracking), infraestructura TI y datos geoespaciales.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09160" y="3154680"/>
            <a:ext cx="4069080" cy="1463040"/>
          </a:xfrm>
          <a:prstGeom prst="roundRect">
            <a:avLst>
              <a:gd name="adj" fmla="val 5000"/>
            </a:avLst>
          </a:prstGeom>
          <a:solidFill>
            <a:srgbClr val="FAEDFE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92040" y="3337560"/>
            <a:ext cx="475488" cy="475488"/>
          </a:xfrm>
          <a:prstGeom prst="ellipse">
            <a:avLst/>
          </a:prstGeom>
          <a:solidFill>
            <a:srgbClr val="4B005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422" y="3465942"/>
            <a:ext cx="218724" cy="2187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32120" y="33558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B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académico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532120" y="3794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Tutor/a académico, asesor/a científico en neurociencia y mentor de negocios TI.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RutAcc — Concurso VIU 2026</dc:title>
  <dc:subject>PptxGenJS Presentation</dc:subject>
  <dc:creator>PptxGenJS</dc:creator>
  <cp:lastModifiedBy>PptxGenJS</cp:lastModifiedBy>
  <cp:revision>1</cp:revision>
  <dcterms:created xsi:type="dcterms:W3CDTF">2026-06-09T21:03:17Z</dcterms:created>
  <dcterms:modified xsi:type="dcterms:W3CDTF">2026-06-09T21:03:17Z</dcterms:modified>
</cp:coreProperties>
</file>